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302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22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75F6D">
              <a:alpha val="60000"/>
            </a:srgbClr>
          </a:solidFill>
          <a:ln w="12700">
            <a:solidFill>
              <a:srgbClr val="075F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E7A8A">
              <a:alpha val="40000"/>
            </a:srgbClr>
          </a:solidFill>
          <a:ln w="12700">
            <a:solidFill>
              <a:srgbClr val="0E7A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400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0876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A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IDAT · Desarrollo de Aplicaciones Móviles 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A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DEL PROYECTO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para la gestión de pacientes y tratamientos odontológicos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526280"/>
            <a:ext cx="3108960" cy="411480"/>
          </a:xfrm>
          <a:prstGeom prst="roundRect">
            <a:avLst>
              <a:gd name="adj" fmla="val 48889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·  TypeScript  ·  Expo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5577840"/>
            <a:ext cx="5486400" cy="0"/>
          </a:xfrm>
          <a:prstGeom prst="line">
            <a:avLst/>
          </a:prstGeom>
          <a:noFill/>
          <a:ln w="25400">
            <a:solidFill>
              <a:srgbClr val="0E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715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A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Rosado Cabello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245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Ruben Zuniga Salazar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A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5989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Albin Anthony Hinostroza Macavilca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6245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 ·  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Odontología Guerrero?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 es una aplicación móvil desarrollada para optimizar la gestión de pacientes y tratamientos dentro de una clínica odontológica.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surge ante la necesidad de mejorar el control de información en un entorno donde diariamente se reciben múltiples solicitudes de atención, consultas y seguimientos de tratamientos.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2976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clínica odontológica, la administración manual de datos puede generar dificultades debido al crecimiento constante de registros, la variedad de servicios y la necesidad de conocer en tiempo real el estado de cada atención.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965960"/>
            <a:ext cx="4846320" cy="4160520"/>
          </a:xfrm>
          <a:prstGeom prst="roundRect">
            <a:avLst>
              <a:gd name="adj" fmla="val 3297"/>
            </a:avLst>
          </a:prstGeom>
          <a:solidFill>
            <a:srgbClr val="E6F7F5"/>
          </a:solidFill>
          <a:ln w="12700">
            <a:solidFill>
              <a:srgbClr val="A7E8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2194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PERMITE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78040" y="2651760"/>
            <a:ext cx="457200" cy="45720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2898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pacientes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3474720"/>
            <a:ext cx="457200" cy="45720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3721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tratamientos y prioridades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4297680"/>
            <a:ext cx="457200" cy="45720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0" y="4544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atención en tiempo real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78040" y="5120640"/>
            <a:ext cx="457200" cy="45720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5367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información y duplicidad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CASO DE NEGOCIO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gestión de pacientes se realiza mediante registros manuales o herramientas no centralizadas, surgen problemas que afectan la atención diaria de la clínica: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8008" y="27432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6608" y="2971800"/>
            <a:ext cx="502920" cy="50292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60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386688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lenta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6608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encontrar rápidamente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de un paciente.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2768" y="27432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1368" y="2971800"/>
            <a:ext cx="502920" cy="50292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136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181448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41368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control sobre tratamientos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o finalizados.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07528" y="27432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6128" y="2971800"/>
            <a:ext cx="502920" cy="50292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612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976208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Retrasos en atención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36128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organización que impacta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tiempos de atención.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15388" y="4572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43988" y="4800600"/>
            <a:ext cx="502920" cy="50292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43988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⧉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3284068" y="4800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duplicados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643988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repetidos que generan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0148" y="4572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38748" y="4800600"/>
            <a:ext cx="502920" cy="50292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8748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7078828" y="4800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priorización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38748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capacidad para priorizar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la urgencia del tratamiento.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OBJETIVO DEL PROYECTO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y específicos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1155680" cy="1234440"/>
          </a:xfrm>
          <a:prstGeom prst="roundRect">
            <a:avLst>
              <a:gd name="adj" fmla="val 1111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A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móvil con React Native y TypeScript que permita gestionar de manera organizada la información de pacientes odontológicos, facilitando el registro, consulta, actualización y eliminación de datos relacionados con sus tratamientos y estados de atención.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0332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40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intuitiva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interfaz que facilite la interacción del personal encargado.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370332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840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digitales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251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pacientes evitando errores de información.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2440" y="370332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840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1540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filtrado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251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pacientes según características y estado de atención.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512064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257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5257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reutilizables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56692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una estructura ordenada del código.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0" y="512064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5257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20640" y="5257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+ useReducer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26280" y="56692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información con un sistema de estado eficiente.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512064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5257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15400" y="5257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por estados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56692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Pendiente, en atención y finalizado.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CORE DE NEGOCIO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clínica odontológica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core de negocio seleccionado corresponde al sector odontológico, específicamente a la gestión de pacientes y el seguimiento de tratamientos.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clínicas odontológicas manejan diariamente información relacionada con pacientes, citas, procedimientos y avances de atención. Debido al crecimiento progresivo de la cantidad de registros, resulta necesario contar con herramientas digitales que permitan organizar esta información y facilitar la toma de decisiones.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1965960"/>
            <a:ext cx="5029200" cy="4297680"/>
          </a:xfrm>
          <a:prstGeom prst="roundRect">
            <a:avLst>
              <a:gd name="adj" fmla="val 3191"/>
            </a:avLst>
          </a:prstGeom>
          <a:solidFill>
            <a:srgbClr val="E6F7F5"/>
          </a:solidFill>
          <a:ln w="12700">
            <a:solidFill>
              <a:srgbClr val="A7E8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ODONTOLÓGICOS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aplicación permite gestionar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2971800"/>
            <a:ext cx="214884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971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281160" y="2971800"/>
            <a:ext cx="214884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2971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3520440"/>
            <a:ext cx="214884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520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ORTODONCIA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81160" y="3520440"/>
            <a:ext cx="214884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520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ENDODONCIA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4069080"/>
            <a:ext cx="214884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281160" y="4069080"/>
            <a:ext cx="214884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BLANQUEAMIENTO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50292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procesos, hoy manuales o dispersos, son los que la app centraliza en un único sistema.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PROCESOS PRINCIPALES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flujos que administra la app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86000"/>
            <a:ext cx="594360" cy="365760"/>
          </a:xfrm>
          <a:prstGeom prst="roundRect">
            <a:avLst>
              <a:gd name="adj" fmla="val 50000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860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2860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pacientes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de datos personales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tratamiento requerido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prioridad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286000"/>
            <a:ext cx="594360" cy="365760"/>
          </a:xfrm>
          <a:prstGeom prst="roundRect">
            <a:avLst>
              <a:gd name="adj" fmla="val 50000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860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22860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tratamientos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27889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estado actual del paciente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tratamientos pendientes o finalizados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572000"/>
            <a:ext cx="594360" cy="365760"/>
          </a:xfrm>
          <a:prstGeom prst="roundRect">
            <a:avLst>
              <a:gd name="adj" fmla="val 50000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5720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08760" y="45720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información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50749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 de datos del paciente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estado según avance de atención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42976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572000"/>
            <a:ext cx="594360" cy="365760"/>
          </a:xfrm>
          <a:prstGeom prst="roundRect">
            <a:avLst>
              <a:gd name="adj" fmla="val 50000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5720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45720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y organización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37960" y="50749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rápida mediante tarjetas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pacientes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por estado de atención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2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B3075C48-D4FF-623E-8701-C8F6B13208E4}"/>
              </a:ext>
            </a:extLst>
          </p:cNvPr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0BD80F83-6D03-1F71-3140-737AF0C57023}"/>
              </a:ext>
            </a:extLst>
          </p:cNvPr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CB957B43-A575-4C8C-E6CC-AAB4A4C58EC9}"/>
              </a:ext>
            </a:extLst>
          </p:cNvPr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A6F415FD-D882-280D-B625-CB4B884E4075}"/>
              </a:ext>
            </a:extLst>
          </p:cNvPr>
          <p:cNvSpPr/>
          <p:nvPr/>
        </p:nvSpPr>
        <p:spPr>
          <a:xfrm>
            <a:off x="5029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ARQUITECTURA DEL PROYECTO</a:t>
            </a:r>
            <a:endParaRPr lang="en-US" sz="11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8F380DAF-220C-F34E-8CAD-0C12DD0D61FB}"/>
              </a:ext>
            </a:extLst>
          </p:cNvPr>
          <p:cNvSpPr/>
          <p:nvPr/>
        </p:nvSpPr>
        <p:spPr>
          <a:xfrm>
            <a:off x="502920" y="11430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por capas con separación de responsabilidades</a:t>
            </a:r>
            <a:endParaRPr lang="en-US" sz="3000" dirty="0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E10C7036-D218-3963-5729-209BFC837251}"/>
              </a:ext>
            </a:extLst>
          </p:cNvPr>
          <p:cNvSpPr/>
          <p:nvPr/>
        </p:nvSpPr>
        <p:spPr>
          <a:xfrm>
            <a:off x="502920" y="1965960"/>
            <a:ext cx="5303520" cy="4343400"/>
          </a:xfrm>
          <a:prstGeom prst="roundRect">
            <a:avLst>
              <a:gd name="adj" fmla="val 3158"/>
            </a:avLst>
          </a:prstGeom>
          <a:solidFill>
            <a:srgbClr val="053B48"/>
          </a:solidFill>
          <a:ln w="12700">
            <a:solidFill>
              <a:srgbClr val="053B48"/>
            </a:solidFill>
            <a:prstDash val="solid"/>
          </a:ln>
        </p:spPr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FD886764-555C-1341-0DED-F2F0490FF76C}"/>
              </a:ext>
            </a:extLst>
          </p:cNvPr>
          <p:cNvSpPr/>
          <p:nvPr/>
        </p:nvSpPr>
        <p:spPr>
          <a:xfrm>
            <a:off x="777240" y="214884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DF15DFB7-C0CA-3D9C-9ADB-8E5A0EC0147B}"/>
              </a:ext>
            </a:extLst>
          </p:cNvPr>
          <p:cNvSpPr/>
          <p:nvPr/>
        </p:nvSpPr>
        <p:spPr>
          <a:xfrm>
            <a:off x="960120" y="214884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8069EBC9-78F7-D065-9200-2CDF25023F4A}"/>
              </a:ext>
            </a:extLst>
          </p:cNvPr>
          <p:cNvSpPr/>
          <p:nvPr/>
        </p:nvSpPr>
        <p:spPr>
          <a:xfrm>
            <a:off x="1143000" y="214884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E6FF18E4-E415-0173-30AD-ED00C8EC64FC}"/>
              </a:ext>
            </a:extLst>
          </p:cNvPr>
          <p:cNvSpPr/>
          <p:nvPr/>
        </p:nvSpPr>
        <p:spPr>
          <a:xfrm>
            <a:off x="1371600" y="2057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n-US" sz="10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1B7A9C52-F85A-B95D-1A08-A0325BE67EE2}"/>
              </a:ext>
            </a:extLst>
          </p:cNvPr>
          <p:cNvSpPr/>
          <p:nvPr/>
        </p:nvSpPr>
        <p:spPr>
          <a:xfrm>
            <a:off x="777240" y="246888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25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FE5D3FA6-0655-A3F4-C834-428679ED6084}"/>
              </a:ext>
            </a:extLst>
          </p:cNvPr>
          <p:cNvSpPr/>
          <p:nvPr/>
        </p:nvSpPr>
        <p:spPr>
          <a:xfrm>
            <a:off x="3108960" y="24688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de Expo Router</a:t>
            </a:r>
            <a:endParaRPr lang="en-US" sz="95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A51F448A-0C1A-0E85-8261-8221B6F1FD81}"/>
              </a:ext>
            </a:extLst>
          </p:cNvPr>
          <p:cNvSpPr/>
          <p:nvPr/>
        </p:nvSpPr>
        <p:spPr>
          <a:xfrm>
            <a:off x="777240" y="278892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</a:t>
            </a:r>
            <a:endParaRPr lang="en-US" sz="125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D8B18EEA-646A-25B8-ADC1-23C3072ED111}"/>
              </a:ext>
            </a:extLst>
          </p:cNvPr>
          <p:cNvSpPr/>
          <p:nvPr/>
        </p:nvSpPr>
        <p:spPr>
          <a:xfrm>
            <a:off x="3108960" y="278892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y tipos</a:t>
            </a:r>
            <a:endParaRPr lang="en-US" sz="95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DF94909B-7526-8878-8C30-E48E4B820DDD}"/>
              </a:ext>
            </a:extLst>
          </p:cNvPr>
          <p:cNvSpPr/>
          <p:nvPr/>
        </p:nvSpPr>
        <p:spPr>
          <a:xfrm>
            <a:off x="777240" y="310896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infrastructure/</a:t>
            </a:r>
            <a:endParaRPr lang="en-US" sz="125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F9C42413-9CC6-2749-C330-C6ADEB5547E5}"/>
              </a:ext>
            </a:extLst>
          </p:cNvPr>
          <p:cNvSpPr/>
          <p:nvPr/>
        </p:nvSpPr>
        <p:spPr>
          <a:xfrm>
            <a:off x="960120" y="335584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database/</a:t>
            </a:r>
            <a:endParaRPr lang="en-US" sz="105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74C19788-8897-B3D9-9F6A-2085D941A32F}"/>
              </a:ext>
            </a:extLst>
          </p:cNvPr>
          <p:cNvSpPr/>
          <p:nvPr/>
        </p:nvSpPr>
        <p:spPr>
          <a:xfrm>
            <a:off x="3108960" y="33558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AA8D283A-0C44-8445-E39A-40324405A942}"/>
              </a:ext>
            </a:extLst>
          </p:cNvPr>
          <p:cNvSpPr/>
          <p:nvPr/>
        </p:nvSpPr>
        <p:spPr>
          <a:xfrm>
            <a:off x="960120" y="360273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firebase/</a:t>
            </a:r>
            <a:endParaRPr lang="en-US" sz="105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583AD6B1-BEE3-8554-1493-32B0BDF6F82C}"/>
              </a:ext>
            </a:extLst>
          </p:cNvPr>
          <p:cNvSpPr/>
          <p:nvPr/>
        </p:nvSpPr>
        <p:spPr>
          <a:xfrm>
            <a:off x="3108960" y="36027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Firebase</a:t>
            </a:r>
            <a:endParaRPr lang="en-US" sz="95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70E5F4C9-0CA2-59EC-120A-0BC7635C3033}"/>
              </a:ext>
            </a:extLst>
          </p:cNvPr>
          <p:cNvSpPr/>
          <p:nvPr/>
        </p:nvSpPr>
        <p:spPr>
          <a:xfrm>
            <a:off x="960120" y="384962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repositories/</a:t>
            </a:r>
            <a:endParaRPr lang="en-US" sz="105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5DA51F03-38BE-BAB5-F7D2-914EDBC77A14}"/>
              </a:ext>
            </a:extLst>
          </p:cNvPr>
          <p:cNvSpPr/>
          <p:nvPr/>
        </p:nvSpPr>
        <p:spPr>
          <a:xfrm>
            <a:off x="3108960" y="384962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</a:t>
            </a:r>
            <a:endParaRPr lang="en-US" sz="95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BB1C520F-21FE-370E-D52E-F1C1C7BFD59C}"/>
              </a:ext>
            </a:extLst>
          </p:cNvPr>
          <p:cNvSpPr/>
          <p:nvPr/>
        </p:nvSpPr>
        <p:spPr>
          <a:xfrm>
            <a:off x="960120" y="409651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services/</a:t>
            </a:r>
            <a:endParaRPr lang="en-US" sz="1050" dirty="0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DE67E14C-AA81-326B-806B-69ED76844244}"/>
              </a:ext>
            </a:extLst>
          </p:cNvPr>
          <p:cNvSpPr/>
          <p:nvPr/>
        </p:nvSpPr>
        <p:spPr>
          <a:xfrm>
            <a:off x="3108960" y="409651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95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5B215558-56AA-9CEF-065A-E76C79629E63}"/>
              </a:ext>
            </a:extLst>
          </p:cNvPr>
          <p:cNvSpPr/>
          <p:nvPr/>
        </p:nvSpPr>
        <p:spPr>
          <a:xfrm>
            <a:off x="777240" y="44165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presentation/</a:t>
            </a:r>
            <a:endParaRPr lang="en-US" sz="125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2EEAB614-E41F-05C2-B413-3CF2E7DFC06A}"/>
              </a:ext>
            </a:extLst>
          </p:cNvPr>
          <p:cNvSpPr/>
          <p:nvPr/>
        </p:nvSpPr>
        <p:spPr>
          <a:xfrm>
            <a:off x="960120" y="46634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components/</a:t>
            </a:r>
            <a:endParaRPr lang="en-US" sz="105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F46B06C8-CFB2-5380-4434-425CDFEE812F}"/>
              </a:ext>
            </a:extLst>
          </p:cNvPr>
          <p:cNvSpPr/>
          <p:nvPr/>
        </p:nvSpPr>
        <p:spPr>
          <a:xfrm>
            <a:off x="3108960" y="46634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reutilizables</a:t>
            </a:r>
            <a:endParaRPr lang="en-US" sz="95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A4491D92-F22C-3D76-7A55-1F90651D7DC6}"/>
              </a:ext>
            </a:extLst>
          </p:cNvPr>
          <p:cNvSpPr/>
          <p:nvPr/>
        </p:nvSpPr>
        <p:spPr>
          <a:xfrm>
            <a:off x="960120" y="491032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context/</a:t>
            </a:r>
            <a:endParaRPr lang="en-US" sz="1050" dirty="0"/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8517104E-3A73-0777-4C5A-BDF10B8BB794}"/>
              </a:ext>
            </a:extLst>
          </p:cNvPr>
          <p:cNvSpPr/>
          <p:nvPr/>
        </p:nvSpPr>
        <p:spPr>
          <a:xfrm>
            <a:off x="3108960" y="49103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Firebase</a:t>
            </a:r>
            <a:endParaRPr lang="en-US" sz="950" dirty="0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4660CA24-1314-1AF9-402C-3680A4298EF8}"/>
              </a:ext>
            </a:extLst>
          </p:cNvPr>
          <p:cNvSpPr/>
          <p:nvPr/>
        </p:nvSpPr>
        <p:spPr>
          <a:xfrm>
            <a:off x="960120" y="515721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hooks/</a:t>
            </a:r>
            <a:endParaRPr lang="en-US" sz="1050" dirty="0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EEE8D338-362F-5729-B9A0-9F7AFF74B810}"/>
              </a:ext>
            </a:extLst>
          </p:cNvPr>
          <p:cNvSpPr/>
          <p:nvPr/>
        </p:nvSpPr>
        <p:spPr>
          <a:xfrm>
            <a:off x="3108960" y="515721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reutilizable</a:t>
            </a:r>
            <a:endParaRPr lang="en-US" sz="950" dirty="0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5E2423CA-1BB4-B3BA-7B10-46B9C2921DD6}"/>
              </a:ext>
            </a:extLst>
          </p:cNvPr>
          <p:cNvSpPr/>
          <p:nvPr/>
        </p:nvSpPr>
        <p:spPr>
          <a:xfrm>
            <a:off x="960120" y="540410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screens/</a:t>
            </a:r>
            <a:endParaRPr lang="en-US" sz="1050" dirty="0"/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5657457A-AEFF-5BA8-42EC-0F6D33A706BB}"/>
              </a:ext>
            </a:extLst>
          </p:cNvPr>
          <p:cNvSpPr/>
          <p:nvPr/>
        </p:nvSpPr>
        <p:spPr>
          <a:xfrm>
            <a:off x="3108960" y="540410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</a:t>
            </a:r>
            <a:endParaRPr lang="en-US" sz="950" dirty="0"/>
          </a:p>
        </p:txBody>
      </p:sp>
      <p:sp>
        <p:nvSpPr>
          <p:cNvPr id="61" name="Text 32">
            <a:extLst>
              <a:ext uri="{FF2B5EF4-FFF2-40B4-BE49-F238E27FC236}">
                <a16:creationId xmlns:a16="http://schemas.microsoft.com/office/drawing/2014/main" id="{91A63B68-A940-C434-4576-D4CF7FDA2205}"/>
              </a:ext>
            </a:extLst>
          </p:cNvPr>
          <p:cNvSpPr/>
          <p:nvPr/>
        </p:nvSpPr>
        <p:spPr>
          <a:xfrm>
            <a:off x="960120" y="56509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utils/</a:t>
            </a:r>
            <a:endParaRPr lang="en-US" sz="1050" dirty="0"/>
          </a:p>
        </p:txBody>
      </p:sp>
      <p:sp>
        <p:nvSpPr>
          <p:cNvPr id="62" name="Text 33">
            <a:extLst>
              <a:ext uri="{FF2B5EF4-FFF2-40B4-BE49-F238E27FC236}">
                <a16:creationId xmlns:a16="http://schemas.microsoft.com/office/drawing/2014/main" id="{160A30D8-E9D3-ADEE-F933-1D948AC052DC}"/>
              </a:ext>
            </a:extLst>
          </p:cNvPr>
          <p:cNvSpPr/>
          <p:nvPr/>
        </p:nvSpPr>
        <p:spPr>
          <a:xfrm>
            <a:off x="3108960" y="56509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</a:t>
            </a:r>
            <a:endParaRPr lang="en-US" sz="950" dirty="0"/>
          </a:p>
        </p:txBody>
      </p:sp>
      <p:sp>
        <p:nvSpPr>
          <p:cNvPr id="63" name="Text 34">
            <a:extLst>
              <a:ext uri="{FF2B5EF4-FFF2-40B4-BE49-F238E27FC236}">
                <a16:creationId xmlns:a16="http://schemas.microsoft.com/office/drawing/2014/main" id="{308C2E6F-B6F7-5293-72D4-96141492060F}"/>
              </a:ext>
            </a:extLst>
          </p:cNvPr>
          <p:cNvSpPr/>
          <p:nvPr/>
        </p:nvSpPr>
        <p:spPr>
          <a:xfrm>
            <a:off x="777240" y="59710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api-terminos/</a:t>
            </a:r>
            <a:endParaRPr lang="en-US" sz="1250" dirty="0"/>
          </a:p>
        </p:txBody>
      </p:sp>
      <p:sp>
        <p:nvSpPr>
          <p:cNvPr id="64" name="Text 35">
            <a:extLst>
              <a:ext uri="{FF2B5EF4-FFF2-40B4-BE49-F238E27FC236}">
                <a16:creationId xmlns:a16="http://schemas.microsoft.com/office/drawing/2014/main" id="{C86ED632-AEEE-3F9A-12B3-228738C6A0F0}"/>
              </a:ext>
            </a:extLst>
          </p:cNvPr>
          <p:cNvSpPr/>
          <p:nvPr/>
        </p:nvSpPr>
        <p:spPr>
          <a:xfrm>
            <a:off x="3108960" y="59710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propia</a:t>
            </a:r>
            <a:endParaRPr lang="en-US" sz="950" dirty="0"/>
          </a:p>
        </p:txBody>
      </p:sp>
      <p:sp>
        <p:nvSpPr>
          <p:cNvPr id="65" name="Text 36">
            <a:extLst>
              <a:ext uri="{FF2B5EF4-FFF2-40B4-BE49-F238E27FC236}">
                <a16:creationId xmlns:a16="http://schemas.microsoft.com/office/drawing/2014/main" id="{49CB9418-FBC3-1343-FBFE-0A6673C6600E}"/>
              </a:ext>
            </a:extLst>
          </p:cNvPr>
          <p:cNvSpPr/>
          <p:nvPr/>
        </p:nvSpPr>
        <p:spPr>
          <a:xfrm>
            <a:off x="6080760" y="196596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CAPAS</a:t>
            </a:r>
            <a:endParaRPr lang="en-US" sz="1100" dirty="0"/>
          </a:p>
        </p:txBody>
      </p:sp>
      <p:sp>
        <p:nvSpPr>
          <p:cNvPr id="66" name="Text 37">
            <a:extLst>
              <a:ext uri="{FF2B5EF4-FFF2-40B4-BE49-F238E27FC236}">
                <a16:creationId xmlns:a16="http://schemas.microsoft.com/office/drawing/2014/main" id="{6B5ADC9D-9C56-5D05-F5F2-B7C402241AD0}"/>
              </a:ext>
            </a:extLst>
          </p:cNvPr>
          <p:cNvSpPr/>
          <p:nvPr/>
        </p:nvSpPr>
        <p:spPr>
          <a:xfrm>
            <a:off x="6080760" y="224028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depende únicamente de las capas internas</a:t>
            </a:r>
            <a:endParaRPr lang="en-US" sz="1100" dirty="0"/>
          </a:p>
        </p:txBody>
      </p:sp>
      <p:sp>
        <p:nvSpPr>
          <p:cNvPr id="67" name="Shape 38">
            <a:extLst>
              <a:ext uri="{FF2B5EF4-FFF2-40B4-BE49-F238E27FC236}">
                <a16:creationId xmlns:a16="http://schemas.microsoft.com/office/drawing/2014/main" id="{A98CABD6-7CE5-D4ED-5621-57B1198C48C1}"/>
              </a:ext>
            </a:extLst>
          </p:cNvPr>
          <p:cNvSpPr/>
          <p:nvPr/>
        </p:nvSpPr>
        <p:spPr>
          <a:xfrm>
            <a:off x="6080760" y="2606040"/>
            <a:ext cx="5623560" cy="685800"/>
          </a:xfrm>
          <a:prstGeom prst="roundRect">
            <a:avLst>
              <a:gd name="adj" fmla="val 16000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68" name="Shape 39">
            <a:extLst>
              <a:ext uri="{FF2B5EF4-FFF2-40B4-BE49-F238E27FC236}">
                <a16:creationId xmlns:a16="http://schemas.microsoft.com/office/drawing/2014/main" id="{29CCE73F-CD0E-81EC-D600-86ECE7EF9B35}"/>
              </a:ext>
            </a:extLst>
          </p:cNvPr>
          <p:cNvSpPr/>
          <p:nvPr/>
        </p:nvSpPr>
        <p:spPr>
          <a:xfrm>
            <a:off x="6309360" y="272491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69" name="Text 40">
            <a:extLst>
              <a:ext uri="{FF2B5EF4-FFF2-40B4-BE49-F238E27FC236}">
                <a16:creationId xmlns:a16="http://schemas.microsoft.com/office/drawing/2014/main" id="{5D2B7B49-D358-35E9-D854-F7719FE08058}"/>
              </a:ext>
            </a:extLst>
          </p:cNvPr>
          <p:cNvSpPr/>
          <p:nvPr/>
        </p:nvSpPr>
        <p:spPr>
          <a:xfrm>
            <a:off x="6309360" y="2724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00" dirty="0"/>
          </a:p>
        </p:txBody>
      </p:sp>
      <p:sp>
        <p:nvSpPr>
          <p:cNvPr id="70" name="Text 41">
            <a:extLst>
              <a:ext uri="{FF2B5EF4-FFF2-40B4-BE49-F238E27FC236}">
                <a16:creationId xmlns:a16="http://schemas.microsoft.com/office/drawing/2014/main" id="{51292575-FAF1-7E9D-558D-0571FE9D9438}"/>
              </a:ext>
            </a:extLst>
          </p:cNvPr>
          <p:cNvSpPr/>
          <p:nvPr/>
        </p:nvSpPr>
        <p:spPr>
          <a:xfrm>
            <a:off x="7863840" y="26883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400" dirty="0"/>
          </a:p>
        </p:txBody>
      </p:sp>
      <p:sp>
        <p:nvSpPr>
          <p:cNvPr id="71" name="Text 42">
            <a:extLst>
              <a:ext uri="{FF2B5EF4-FFF2-40B4-BE49-F238E27FC236}">
                <a16:creationId xmlns:a16="http://schemas.microsoft.com/office/drawing/2014/main" id="{104ECDDB-B814-D233-0A55-C6CCA9A9EF54}"/>
              </a:ext>
            </a:extLst>
          </p:cNvPr>
          <p:cNvSpPr/>
          <p:nvPr/>
        </p:nvSpPr>
        <p:spPr>
          <a:xfrm>
            <a:off x="6309360" y="29900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de Expo Router — punto de entrada de la aplicación.</a:t>
            </a:r>
            <a:endParaRPr lang="en-US" sz="1000" dirty="0"/>
          </a:p>
        </p:txBody>
      </p:sp>
      <p:sp>
        <p:nvSpPr>
          <p:cNvPr id="72" name="Shape 43">
            <a:extLst>
              <a:ext uri="{FF2B5EF4-FFF2-40B4-BE49-F238E27FC236}">
                <a16:creationId xmlns:a16="http://schemas.microsoft.com/office/drawing/2014/main" id="{9C51EA7A-F098-2C84-BFA6-7D77DE5B481D}"/>
              </a:ext>
            </a:extLst>
          </p:cNvPr>
          <p:cNvSpPr/>
          <p:nvPr/>
        </p:nvSpPr>
        <p:spPr>
          <a:xfrm>
            <a:off x="6080760" y="3383280"/>
            <a:ext cx="5623560" cy="685800"/>
          </a:xfrm>
          <a:prstGeom prst="roundRect">
            <a:avLst>
              <a:gd name="adj" fmla="val 16000"/>
            </a:avLst>
          </a:prstGeom>
          <a:solidFill>
            <a:srgbClr val="E6F7F5"/>
          </a:solidFill>
          <a:ln w="12700">
            <a:solidFill>
              <a:srgbClr val="A7E8DD"/>
            </a:solidFill>
            <a:prstDash val="solid"/>
          </a:ln>
        </p:spPr>
      </p:sp>
      <p:sp>
        <p:nvSpPr>
          <p:cNvPr id="73" name="Shape 44">
            <a:extLst>
              <a:ext uri="{FF2B5EF4-FFF2-40B4-BE49-F238E27FC236}">
                <a16:creationId xmlns:a16="http://schemas.microsoft.com/office/drawing/2014/main" id="{63BEB882-8A66-D2E5-BA62-066EB7D79BCD}"/>
              </a:ext>
            </a:extLst>
          </p:cNvPr>
          <p:cNvSpPr/>
          <p:nvPr/>
        </p:nvSpPr>
        <p:spPr>
          <a:xfrm>
            <a:off x="6309360" y="350215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74" name="Text 45">
            <a:extLst>
              <a:ext uri="{FF2B5EF4-FFF2-40B4-BE49-F238E27FC236}">
                <a16:creationId xmlns:a16="http://schemas.microsoft.com/office/drawing/2014/main" id="{0EE967A3-9DB9-56C0-11EA-7B3474DE2F86}"/>
              </a:ext>
            </a:extLst>
          </p:cNvPr>
          <p:cNvSpPr/>
          <p:nvPr/>
        </p:nvSpPr>
        <p:spPr>
          <a:xfrm>
            <a:off x="6309360" y="3502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900" dirty="0"/>
          </a:p>
        </p:txBody>
      </p:sp>
      <p:sp>
        <p:nvSpPr>
          <p:cNvPr id="75" name="Text 46">
            <a:extLst>
              <a:ext uri="{FF2B5EF4-FFF2-40B4-BE49-F238E27FC236}">
                <a16:creationId xmlns:a16="http://schemas.microsoft.com/office/drawing/2014/main" id="{3BBE6AFA-4A34-DA11-8E9A-7070BBF92F82}"/>
              </a:ext>
            </a:extLst>
          </p:cNvPr>
          <p:cNvSpPr/>
          <p:nvPr/>
        </p:nvSpPr>
        <p:spPr>
          <a:xfrm>
            <a:off x="7863840" y="34655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presentation/</a:t>
            </a:r>
            <a:endParaRPr lang="en-US" sz="1400" dirty="0"/>
          </a:p>
        </p:txBody>
      </p:sp>
      <p:sp>
        <p:nvSpPr>
          <p:cNvPr id="76" name="Text 47">
            <a:extLst>
              <a:ext uri="{FF2B5EF4-FFF2-40B4-BE49-F238E27FC236}">
                <a16:creationId xmlns:a16="http://schemas.microsoft.com/office/drawing/2014/main" id="{B5A5C8A5-C0C9-FE33-40CF-DC3C5C81CCD2}"/>
              </a:ext>
            </a:extLst>
          </p:cNvPr>
          <p:cNvSpPr/>
          <p:nvPr/>
        </p:nvSpPr>
        <p:spPr>
          <a:xfrm>
            <a:off x="6309360" y="376732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componentes, pantallas, hooks, contexto y validaciones.</a:t>
            </a:r>
            <a:endParaRPr lang="en-US" sz="1000" dirty="0"/>
          </a:p>
        </p:txBody>
      </p:sp>
      <p:sp>
        <p:nvSpPr>
          <p:cNvPr id="77" name="Shape 48">
            <a:extLst>
              <a:ext uri="{FF2B5EF4-FFF2-40B4-BE49-F238E27FC236}">
                <a16:creationId xmlns:a16="http://schemas.microsoft.com/office/drawing/2014/main" id="{2422668A-244F-10C0-9FEA-090D524D48AC}"/>
              </a:ext>
            </a:extLst>
          </p:cNvPr>
          <p:cNvSpPr/>
          <p:nvPr/>
        </p:nvSpPr>
        <p:spPr>
          <a:xfrm>
            <a:off x="6080760" y="4160520"/>
            <a:ext cx="5623560" cy="685800"/>
          </a:xfrm>
          <a:prstGeom prst="roundRect">
            <a:avLst>
              <a:gd name="adj" fmla="val 16000"/>
            </a:avLst>
          </a:prstGeom>
          <a:solidFill>
            <a:srgbClr val="A7E8DD"/>
          </a:solidFill>
          <a:ln w="12700">
            <a:solidFill>
              <a:srgbClr val="12A4B8"/>
            </a:solidFill>
            <a:prstDash val="solid"/>
          </a:ln>
        </p:spPr>
      </p:sp>
      <p:sp>
        <p:nvSpPr>
          <p:cNvPr id="78" name="Shape 49">
            <a:extLst>
              <a:ext uri="{FF2B5EF4-FFF2-40B4-BE49-F238E27FC236}">
                <a16:creationId xmlns:a16="http://schemas.microsoft.com/office/drawing/2014/main" id="{B57C4599-C11F-6FFF-7C0C-F947631E5387}"/>
              </a:ext>
            </a:extLst>
          </p:cNvPr>
          <p:cNvSpPr/>
          <p:nvPr/>
        </p:nvSpPr>
        <p:spPr>
          <a:xfrm>
            <a:off x="6309360" y="427939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75F6D"/>
          </a:solidFill>
          <a:ln w="12700">
            <a:solidFill>
              <a:srgbClr val="075F6D"/>
            </a:solidFill>
            <a:prstDash val="solid"/>
          </a:ln>
        </p:spPr>
      </p:sp>
      <p:sp>
        <p:nvSpPr>
          <p:cNvPr id="79" name="Text 50">
            <a:extLst>
              <a:ext uri="{FF2B5EF4-FFF2-40B4-BE49-F238E27FC236}">
                <a16:creationId xmlns:a16="http://schemas.microsoft.com/office/drawing/2014/main" id="{36A3FCED-1C6A-FBD3-23F4-644EE6EA2AE7}"/>
              </a:ext>
            </a:extLst>
          </p:cNvPr>
          <p:cNvSpPr/>
          <p:nvPr/>
        </p:nvSpPr>
        <p:spPr>
          <a:xfrm>
            <a:off x="6309360" y="4279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900" dirty="0"/>
          </a:p>
        </p:txBody>
      </p:sp>
      <p:sp>
        <p:nvSpPr>
          <p:cNvPr id="80" name="Text 51">
            <a:extLst>
              <a:ext uri="{FF2B5EF4-FFF2-40B4-BE49-F238E27FC236}">
                <a16:creationId xmlns:a16="http://schemas.microsoft.com/office/drawing/2014/main" id="{6182FEE3-2E9F-5888-F155-B7276B8FE6D5}"/>
              </a:ext>
            </a:extLst>
          </p:cNvPr>
          <p:cNvSpPr/>
          <p:nvPr/>
        </p:nvSpPr>
        <p:spPr>
          <a:xfrm>
            <a:off x="7863840" y="42428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infrastructure/</a:t>
            </a:r>
            <a:endParaRPr lang="en-US" sz="1400" dirty="0"/>
          </a:p>
        </p:txBody>
      </p:sp>
      <p:sp>
        <p:nvSpPr>
          <p:cNvPr id="81" name="Text 52">
            <a:extLst>
              <a:ext uri="{FF2B5EF4-FFF2-40B4-BE49-F238E27FC236}">
                <a16:creationId xmlns:a16="http://schemas.microsoft.com/office/drawing/2014/main" id="{40C79691-5ACB-7BB5-04DE-4FCFD899B4E0}"/>
              </a:ext>
            </a:extLst>
          </p:cNvPr>
          <p:cNvSpPr/>
          <p:nvPr/>
        </p:nvSpPr>
        <p:spPr>
          <a:xfrm>
            <a:off x="6309360" y="45445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local, Firebase, repositorios y servicios API REST.</a:t>
            </a:r>
            <a:endParaRPr lang="en-US" sz="1000" dirty="0"/>
          </a:p>
        </p:txBody>
      </p:sp>
      <p:sp>
        <p:nvSpPr>
          <p:cNvPr id="82" name="Shape 53">
            <a:extLst>
              <a:ext uri="{FF2B5EF4-FFF2-40B4-BE49-F238E27FC236}">
                <a16:creationId xmlns:a16="http://schemas.microsoft.com/office/drawing/2014/main" id="{8B7ED903-4F77-BFD1-A153-798E1FC9373C}"/>
              </a:ext>
            </a:extLst>
          </p:cNvPr>
          <p:cNvSpPr/>
          <p:nvPr/>
        </p:nvSpPr>
        <p:spPr>
          <a:xfrm>
            <a:off x="6080760" y="4937760"/>
            <a:ext cx="5623560" cy="685800"/>
          </a:xfrm>
          <a:prstGeom prst="roundRect">
            <a:avLst>
              <a:gd name="adj" fmla="val 16000"/>
            </a:avLst>
          </a:prstGeom>
          <a:solidFill>
            <a:srgbClr val="0E7A8A"/>
          </a:solidFill>
          <a:ln w="12700">
            <a:solidFill>
              <a:srgbClr val="075F6D"/>
            </a:solidFill>
            <a:prstDash val="solid"/>
          </a:ln>
        </p:spPr>
      </p:sp>
      <p:sp>
        <p:nvSpPr>
          <p:cNvPr id="83" name="Shape 54">
            <a:extLst>
              <a:ext uri="{FF2B5EF4-FFF2-40B4-BE49-F238E27FC236}">
                <a16:creationId xmlns:a16="http://schemas.microsoft.com/office/drawing/2014/main" id="{ABE6C2B6-AEAA-C081-57D6-7B07D65D98BD}"/>
              </a:ext>
            </a:extLst>
          </p:cNvPr>
          <p:cNvSpPr/>
          <p:nvPr/>
        </p:nvSpPr>
        <p:spPr>
          <a:xfrm>
            <a:off x="6309360" y="50566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55">
            <a:extLst>
              <a:ext uri="{FF2B5EF4-FFF2-40B4-BE49-F238E27FC236}">
                <a16:creationId xmlns:a16="http://schemas.microsoft.com/office/drawing/2014/main" id="{0AADB09A-01EA-A84C-AF45-FC6D5C1CD366}"/>
              </a:ext>
            </a:extLst>
          </p:cNvPr>
          <p:cNvSpPr/>
          <p:nvPr/>
        </p:nvSpPr>
        <p:spPr>
          <a:xfrm>
            <a:off x="6309360" y="5056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900" dirty="0"/>
          </a:p>
        </p:txBody>
      </p:sp>
      <p:sp>
        <p:nvSpPr>
          <p:cNvPr id="85" name="Text 56">
            <a:extLst>
              <a:ext uri="{FF2B5EF4-FFF2-40B4-BE49-F238E27FC236}">
                <a16:creationId xmlns:a16="http://schemas.microsoft.com/office/drawing/2014/main" id="{CEFE8A1B-D7F5-F072-FC77-FE1E2D90C7A0}"/>
              </a:ext>
            </a:extLst>
          </p:cNvPr>
          <p:cNvSpPr/>
          <p:nvPr/>
        </p:nvSpPr>
        <p:spPr>
          <a:xfrm>
            <a:off x="7863840" y="50200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</a:t>
            </a:r>
            <a:endParaRPr lang="en-US" sz="1400" dirty="0"/>
          </a:p>
        </p:txBody>
      </p:sp>
      <p:sp>
        <p:nvSpPr>
          <p:cNvPr id="86" name="Text 57">
            <a:extLst>
              <a:ext uri="{FF2B5EF4-FFF2-40B4-BE49-F238E27FC236}">
                <a16:creationId xmlns:a16="http://schemas.microsoft.com/office/drawing/2014/main" id="{D08C8C47-6085-E54A-5455-D1006C3E4184}"/>
              </a:ext>
            </a:extLst>
          </p:cNvPr>
          <p:cNvSpPr/>
          <p:nvPr/>
        </p:nvSpPr>
        <p:spPr>
          <a:xfrm>
            <a:off x="6309360" y="53218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y tipos — el núcleo del negocio, sin dependencias.</a:t>
            </a:r>
            <a:endParaRPr lang="en-US" sz="1000" dirty="0"/>
          </a:p>
        </p:txBody>
      </p:sp>
      <p:sp>
        <p:nvSpPr>
          <p:cNvPr id="87" name="Shape 58">
            <a:extLst>
              <a:ext uri="{FF2B5EF4-FFF2-40B4-BE49-F238E27FC236}">
                <a16:creationId xmlns:a16="http://schemas.microsoft.com/office/drawing/2014/main" id="{286B620C-5010-722C-7C71-14D04DAB2C80}"/>
              </a:ext>
            </a:extLst>
          </p:cNvPr>
          <p:cNvSpPr/>
          <p:nvPr/>
        </p:nvSpPr>
        <p:spPr>
          <a:xfrm>
            <a:off x="6080760" y="5760720"/>
            <a:ext cx="562356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E7A8A"/>
            </a:solidFill>
            <a:prstDash val="dash"/>
          </a:ln>
        </p:spPr>
      </p:sp>
      <p:sp>
        <p:nvSpPr>
          <p:cNvPr id="88" name="Shape 59">
            <a:extLst>
              <a:ext uri="{FF2B5EF4-FFF2-40B4-BE49-F238E27FC236}">
                <a16:creationId xmlns:a16="http://schemas.microsoft.com/office/drawing/2014/main" id="{7E75C223-501F-7B1A-8A34-F179AE35DEDA}"/>
              </a:ext>
            </a:extLst>
          </p:cNvPr>
          <p:cNvSpPr/>
          <p:nvPr/>
        </p:nvSpPr>
        <p:spPr>
          <a:xfrm>
            <a:off x="6263640" y="587959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89" name="Text 60">
            <a:extLst>
              <a:ext uri="{FF2B5EF4-FFF2-40B4-BE49-F238E27FC236}">
                <a16:creationId xmlns:a16="http://schemas.microsoft.com/office/drawing/2014/main" id="{09EE39FB-3B2F-F180-587E-F397CA42A2C9}"/>
              </a:ext>
            </a:extLst>
          </p:cNvPr>
          <p:cNvSpPr/>
          <p:nvPr/>
        </p:nvSpPr>
        <p:spPr>
          <a:xfrm>
            <a:off x="6263640" y="5879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</a:t>
            </a:r>
            <a:endParaRPr lang="en-US" sz="900" dirty="0"/>
          </a:p>
        </p:txBody>
      </p:sp>
      <p:sp>
        <p:nvSpPr>
          <p:cNvPr id="90" name="Text 61">
            <a:extLst>
              <a:ext uri="{FF2B5EF4-FFF2-40B4-BE49-F238E27FC236}">
                <a16:creationId xmlns:a16="http://schemas.microsoft.com/office/drawing/2014/main" id="{0E536D8A-34D3-4079-9B8F-ECB98050FA86}"/>
              </a:ext>
            </a:extLst>
          </p:cNvPr>
          <p:cNvSpPr/>
          <p:nvPr/>
        </p:nvSpPr>
        <p:spPr>
          <a:xfrm>
            <a:off x="7818120" y="5852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api-terminos/</a:t>
            </a:r>
            <a:endParaRPr lang="en-US" sz="1300" dirty="0"/>
          </a:p>
        </p:txBody>
      </p:sp>
      <p:sp>
        <p:nvSpPr>
          <p:cNvPr id="91" name="Text 62">
            <a:extLst>
              <a:ext uri="{FF2B5EF4-FFF2-40B4-BE49-F238E27FC236}">
                <a16:creationId xmlns:a16="http://schemas.microsoft.com/office/drawing/2014/main" id="{9A4EB3A8-BBDE-8607-9366-2421541DB8BF}"/>
              </a:ext>
            </a:extLst>
          </p:cNvPr>
          <p:cNvSpPr/>
          <p:nvPr/>
        </p:nvSpPr>
        <p:spPr>
          <a:xfrm>
            <a:off x="9189720" y="5852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propia consumida desde infrastructure</a:t>
            </a:r>
            <a:endParaRPr lang="en-US" sz="1000" dirty="0"/>
          </a:p>
        </p:txBody>
      </p:sp>
      <p:sp>
        <p:nvSpPr>
          <p:cNvPr id="92" name="Shape 63">
            <a:extLst>
              <a:ext uri="{FF2B5EF4-FFF2-40B4-BE49-F238E27FC236}">
                <a16:creationId xmlns:a16="http://schemas.microsoft.com/office/drawing/2014/main" id="{2944EFC9-DC62-1995-212D-BFC52F07E0FB}"/>
              </a:ext>
            </a:extLst>
          </p:cNvPr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54732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ARQUITECTURA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basada en separación de responsabilidades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se organiza en módulos con responsabilidades claras dentro del directorio src/, lo que permite un código ordenado y escalable.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6F7F5"/>
          </a:solidFill>
          <a:ln w="12700">
            <a:solidFill>
              <a:srgbClr val="A7E8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DEL ENFOQUE MODULAR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320040" cy="32004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118872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funcionalidades sin desorden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160520"/>
            <a:ext cx="320040" cy="32004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118872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carpeta con un solo propósito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754880"/>
            <a:ext cx="320040" cy="32004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754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118872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y hooks compartidos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5349240"/>
            <a:ext cx="320040" cy="32004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349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1188720" y="5349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Testeable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5349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 aisladas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1965960"/>
            <a:ext cx="5852160" cy="4160520"/>
          </a:xfrm>
          <a:prstGeom prst="roundRect">
            <a:avLst>
              <a:gd name="adj" fmla="val 3297"/>
            </a:avLst>
          </a:prstGeom>
          <a:solidFill>
            <a:srgbClr val="053B48"/>
          </a:solidFill>
          <a:ln w="12700">
            <a:solidFill>
              <a:srgbClr val="053B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9536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componentes reutilizables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screens/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pantallas principales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9536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estado global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977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reducers/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59536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lógica CRUD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4434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83680" y="4434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9536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lógica reutilizable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4892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59536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estructuras de datos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09360" y="5349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3680" y="5349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59536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validaciones y constantes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TECNOLOGÍAS UTILIZADAS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del proyecto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3172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A7E8DD"/>
          </a:solidFill>
          <a:ln w="12700">
            <a:solidFill>
              <a:srgbClr val="A7E8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para el desarrollo móvil multiplataforma.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33172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A7E8DD"/>
          </a:solidFill>
          <a:ln w="12700">
            <a:solidFill>
              <a:srgbClr val="A7E8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788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3246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estático para código más seguro y mantenible.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210312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33172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A7E8DD"/>
          </a:solidFill>
          <a:ln w="12700">
            <a:solidFill>
              <a:srgbClr val="A7E8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2788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3246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 y ejecución del proyecto.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02336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25196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A7E8DD"/>
          </a:solidFill>
          <a:ln w="12700">
            <a:solidFill>
              <a:srgbClr val="A7E8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7091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51663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navegación basado en rutas.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402336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425196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A7E8DD"/>
          </a:solidFill>
          <a:ln w="12700">
            <a:solidFill>
              <a:srgbClr val="A7E8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47091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NativeWind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26280" y="51663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mediante clases utilitarias tipo Tailwind.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92440" y="402336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4251960"/>
            <a:ext cx="1097280" cy="320040"/>
          </a:xfrm>
          <a:prstGeom prst="roundRect">
            <a:avLst>
              <a:gd name="adj" fmla="val 48571"/>
            </a:avLst>
          </a:prstGeom>
          <a:solidFill>
            <a:srgbClr val="A7E8DD"/>
          </a:solidFill>
          <a:ln w="12700">
            <a:solidFill>
              <a:srgbClr val="A7E8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47091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useReducer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21040" y="51663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del estado global de la aplicación.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MODELO DE DATOS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Paciente y sus estados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5943600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5943600" cy="777240"/>
          </a:xfrm>
          <a:prstGeom prst="roundRect">
            <a:avLst>
              <a:gd name="adj" fmla="val 17647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331720"/>
            <a:ext cx="5943600" cy="411480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A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PRINCIPAL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355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3355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completo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7398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telefono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37398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de contacto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1239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tratamiento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41239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servicio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507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4507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clínico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prioridad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4892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/ media / alta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276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5276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atención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6601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fechaRegistro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56601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del registro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ATENCIÓN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un paciente atraviesa 3 estados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2788920"/>
            <a:ext cx="4846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1729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784080" y="3017520"/>
            <a:ext cx="1691640" cy="320040"/>
          </a:xfrm>
          <a:prstGeom prst="roundRect">
            <a:avLst>
              <a:gd name="adj" fmla="val 48571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8660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aún no ha sido atendido.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0" y="3931920"/>
            <a:ext cx="4846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4315968"/>
            <a:ext cx="256032" cy="256032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atención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784080" y="4160520"/>
            <a:ext cx="1691640" cy="320040"/>
          </a:xfrm>
          <a:prstGeom prst="roundRect">
            <a:avLst>
              <a:gd name="adj" fmla="val 48571"/>
            </a:avLst>
          </a:prstGeom>
          <a:solidFill>
            <a:srgbClr val="A7E8DD"/>
          </a:solidFill>
          <a:ln w="12700">
            <a:solidFill>
              <a:srgbClr val="A7E8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0" y="4160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EN_ATENCION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8660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tratamiento está en curso.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5074920"/>
            <a:ext cx="4846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86600" y="545896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5257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784080" y="5303520"/>
            <a:ext cx="1691640" cy="320040"/>
          </a:xfrm>
          <a:prstGeom prst="roundRect">
            <a:avLst>
              <a:gd name="adj" fmla="val 48571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84080" y="5303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86600" y="5669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tratamiento fue completado.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FUNCIONALIDADES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capacidades de la app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141732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simple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sistema con credenciales.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81928" y="20116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0528" y="2194560"/>
            <a:ext cx="548640" cy="54864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7196328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pacientes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96328" y="2468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general de todos los registros.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310128"/>
            <a:ext cx="548640" cy="54864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1417320" y="3264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y filtros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584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texto y filtrado por estado.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81928" y="3127248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0528" y="3310128"/>
            <a:ext cx="548640" cy="54864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7196328" y="3264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pacientes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96328" y="3584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para crear nuevos registros.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242816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425696"/>
            <a:ext cx="548640" cy="54864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425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1417320" y="43799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de información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17320" y="47000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 de los datos existentes.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81928" y="4242816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0528" y="4425696"/>
            <a:ext cx="548640" cy="54864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4425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440" dirty="0"/>
          </a:p>
        </p:txBody>
      </p:sp>
      <p:sp>
        <p:nvSpPr>
          <p:cNvPr id="35" name="Text 33"/>
          <p:cNvSpPr/>
          <p:nvPr/>
        </p:nvSpPr>
        <p:spPr>
          <a:xfrm>
            <a:off x="7196328" y="43799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estados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96328" y="47000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del avance de la atención.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5358384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5541264"/>
            <a:ext cx="548640" cy="548640"/>
          </a:xfrm>
          <a:prstGeom prst="ellipse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541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1440" dirty="0"/>
          </a:p>
        </p:txBody>
      </p:sp>
      <p:sp>
        <p:nvSpPr>
          <p:cNvPr id="40" name="Text 38"/>
          <p:cNvSpPr/>
          <p:nvPr/>
        </p:nvSpPr>
        <p:spPr>
          <a:xfrm>
            <a:off x="1417320" y="54955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con confirmación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417320" y="58155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seguro con paso de validación.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FLUJO DE FUNCIONAMIENTO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interactúan los componentes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interactúa con la interfaz, y las acciones fluyen a través del Context API y el reducer, actualizando el estado global.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6568" y="2880360"/>
            <a:ext cx="2011680" cy="1188720"/>
          </a:xfrm>
          <a:prstGeom prst="roundRect">
            <a:avLst>
              <a:gd name="adj" fmla="val 11538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568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6568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5680" y="3474720"/>
            <a:ext cx="256032" cy="0"/>
          </a:xfrm>
          <a:prstGeom prst="line">
            <a:avLst/>
          </a:prstGeom>
          <a:noFill/>
          <a:ln w="38100">
            <a:solidFill>
              <a:srgbClr val="0E7A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58288" y="2880360"/>
            <a:ext cx="2011680" cy="1188720"/>
          </a:xfrm>
          <a:prstGeom prst="roundRect">
            <a:avLst>
              <a:gd name="adj" fmla="val 11538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8288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58288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97400" y="3474720"/>
            <a:ext cx="256032" cy="0"/>
          </a:xfrm>
          <a:prstGeom prst="line">
            <a:avLst/>
          </a:prstGeom>
          <a:noFill/>
          <a:ln w="38100">
            <a:solidFill>
              <a:srgbClr val="0E7A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90008" y="2880360"/>
            <a:ext cx="2011680" cy="1188720"/>
          </a:xfrm>
          <a:prstGeom prst="roundRect">
            <a:avLst>
              <a:gd name="adj" fmla="val 11538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0008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90008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pacientes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29120" y="3474720"/>
            <a:ext cx="256032" cy="0"/>
          </a:xfrm>
          <a:prstGeom prst="line">
            <a:avLst/>
          </a:prstGeom>
          <a:noFill/>
          <a:ln w="38100">
            <a:solidFill>
              <a:srgbClr val="0E7A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21728" y="2880360"/>
            <a:ext cx="2011680" cy="1188720"/>
          </a:xfrm>
          <a:prstGeom prst="roundRect">
            <a:avLst>
              <a:gd name="adj" fmla="val 11538"/>
            </a:avLst>
          </a:prstGeom>
          <a:solidFill>
            <a:srgbClr val="12A4B8"/>
          </a:solidFill>
          <a:ln w="12700">
            <a:solidFill>
              <a:srgbClr val="12A4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1728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CRUD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21728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· editar · eliminar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60840" y="3474720"/>
            <a:ext cx="256032" cy="0"/>
          </a:xfrm>
          <a:prstGeom prst="line">
            <a:avLst/>
          </a:prstGeom>
          <a:noFill/>
          <a:ln w="38100">
            <a:solidFill>
              <a:srgbClr val="0E7A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53448" y="2880360"/>
            <a:ext cx="2011680" cy="1188720"/>
          </a:xfrm>
          <a:prstGeom prst="roundRect">
            <a:avLst>
              <a:gd name="adj" fmla="val 11538"/>
            </a:avLst>
          </a:prstGeom>
          <a:solidFill>
            <a:srgbClr val="075F6D"/>
          </a:solidFill>
          <a:ln w="12700">
            <a:solidFill>
              <a:srgbClr val="075F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53448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Reducer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53448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estado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572000"/>
            <a:ext cx="11155680" cy="1554480"/>
          </a:xfrm>
          <a:prstGeom prst="roundRect">
            <a:avLst>
              <a:gd name="adj" fmla="val 8824"/>
            </a:avLst>
          </a:prstGeom>
          <a:solidFill>
            <a:srgbClr val="E6F7F5"/>
          </a:solidFill>
          <a:ln w="12700">
            <a:solidFill>
              <a:srgbClr val="A7E8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5029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del usuario (crear, editar o eliminar un paciente) se envía como un dispatch al reducer, que centraliza la lógica CRUD. El estado actualizado se propaga por Context API a todas las pantallas que lo consumen, manteniendo la información sincronizada en tiempo real.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CAPTURAS DE PANTALLA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y listado de pacientes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48840"/>
            <a:ext cx="137160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acceso con correo y contraseña.</a:t>
            </a:r>
            <a:endParaRPr lang="en-US" sz="1100" dirty="0"/>
          </a:p>
        </p:txBody>
      </p:sp>
      <p:pic>
        <p:nvPicPr>
          <p:cNvPr id="12" name="Image 0" descr="/home/claude/work/img-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194560"/>
            <a:ext cx="1920240" cy="39319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309360" y="196596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214884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8368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8368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principal con buscador y filtros por estado.</a:t>
            </a:r>
            <a:endParaRPr lang="en-US" sz="1100" dirty="0"/>
          </a:p>
        </p:txBody>
      </p:sp>
      <p:pic>
        <p:nvPicPr>
          <p:cNvPr id="18" name="Image 1" descr="/home/claude/work/img-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194560"/>
            <a:ext cx="1920240" cy="3931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CAPTURAS DE PANTALLA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edición de pacientes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4884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paciente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con datos personales, tratamiento, prioridad y estado.</a:t>
            </a:r>
            <a:endParaRPr lang="en-US" sz="1100" dirty="0"/>
          </a:p>
        </p:txBody>
      </p:sp>
      <p:pic>
        <p:nvPicPr>
          <p:cNvPr id="12" name="Image 0" descr="/home/claude/work/img-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194560"/>
            <a:ext cx="1920240" cy="39319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309360" y="196596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214884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8368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del paciente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8368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para actualizar información y cambiar el estado de atención.</a:t>
            </a:r>
            <a:endParaRPr lang="en-US" sz="1100" dirty="0"/>
          </a:p>
        </p:txBody>
      </p:sp>
      <p:pic>
        <p:nvPicPr>
          <p:cNvPr id="18" name="Image 1" descr="/home/claude/work/img-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194560"/>
            <a:ext cx="1920240" cy="3931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Odontología Guerrero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EVIDENCIA DE EJECUCIÓN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 y demo funcional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4023360" cy="4297680"/>
          </a:xfrm>
          <a:prstGeom prst="roundRect">
            <a:avLst>
              <a:gd name="adj" fmla="val 2727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48840"/>
            <a:ext cx="210312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00" dirty="0"/>
          </a:p>
        </p:txBody>
      </p:sp>
      <p:pic>
        <p:nvPicPr>
          <p:cNvPr id="10" name="Image 0" descr="/home/claude/work/img-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606040"/>
            <a:ext cx="2194560" cy="35661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09160" y="196596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0" y="2148840"/>
            <a:ext cx="210312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OK</a:t>
            </a:r>
            <a:endParaRPr lang="en-US" sz="1000" dirty="0"/>
          </a:p>
        </p:txBody>
      </p:sp>
      <p:pic>
        <p:nvPicPr>
          <p:cNvPr id="14" name="Image 1" descr="/home/claude/work/img-0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606040"/>
            <a:ext cx="2011680" cy="35661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549640" y="1965960"/>
            <a:ext cx="3108960" cy="4297680"/>
          </a:xfrm>
          <a:prstGeom prst="roundRect">
            <a:avLst>
              <a:gd name="adj" fmla="val 3529"/>
            </a:avLst>
          </a:prstGeom>
          <a:solidFill>
            <a:srgbClr val="F5FBFA"/>
          </a:solidFill>
          <a:ln w="12700">
            <a:solidFill>
              <a:srgbClr val="D8E7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823960" y="214884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82396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pic>
        <p:nvPicPr>
          <p:cNvPr id="18" name="Image 2" descr="/home/claude/work/img-0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2606040"/>
            <a:ext cx="2560320" cy="2743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0" y="5440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paciente aparece en la lista con estado "En atención".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02920" y="6492240"/>
            <a:ext cx="1097280" cy="27432"/>
          </a:xfrm>
          <a:prstGeom prst="rect">
            <a:avLst/>
          </a:prstGeom>
          <a:solidFill>
            <a:srgbClr val="0E7A8A"/>
          </a:solidFill>
          <a:ln w="12700">
            <a:solidFill>
              <a:srgbClr val="0E7A8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1375</Words>
  <Application>Microsoft Office PowerPoint</Application>
  <PresentationFormat>Panorámica</PresentationFormat>
  <Paragraphs>361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Odontología Guerrero — Presentación</dc:title>
  <dc:subject>PptxGenJS Presentation</dc:subject>
  <dc:creator>Santiago Rosado Cabello, Ruben Zuniga Salazar</dc:creator>
  <cp:lastModifiedBy>Santiago</cp:lastModifiedBy>
  <cp:revision>2</cp:revision>
  <dcterms:created xsi:type="dcterms:W3CDTF">2026-08-11T23:34:57Z</dcterms:created>
  <dcterms:modified xsi:type="dcterms:W3CDTF">2026-08-12T01:56:55Z</dcterms:modified>
</cp:coreProperties>
</file>